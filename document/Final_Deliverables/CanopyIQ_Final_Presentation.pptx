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Emmanuel: Open with the one-sentence story. CanopyIQ helps a municipal forestry team decide where to inspect, prune, plant, and explain the decision using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Emmanuel: Use a concrete municipal scenario: a councillor asks why Civic Centre is being prioritized, while a resident asks why their area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Liggia: Emphasize that this is a mixed audience problem. A purely technical model is not enough; the system has to be understandable to non-technical municipal stakeholders.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Liggia: Say that the team deliberately moved away from treating constructed cost forecasts as final empirical evidence. The final paper is more defensible because it separates prototype history from verified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Chao-Chung: Call out that the four local files were verified and are the exact Git LFS objects expected by the repo. This supports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Ce: Keep this slide simple. The key is that deployment here means a functional prototype, not a production Cityworks/AWS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Ce: Explain each letter with one example. This slide is the bridge between data and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Chao-Chung: This slide is about credibility. The team caught the 52 vs 51 issue and resolved it. That is a strength, not a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Zhuoran: Walk the audience through the map first, then the top 10 chart. Avoid reading the list; explain what the ranking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Zhuoran: Use Civic Centre versus Victoria Park as the example that will later appear in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Zhuoran: Explain Spearman rho in plain language: if it is close to 1, the order of communities stayed almost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Chao-Chung: Mention why accuracy alone is not enough. The majority baseline has high accuracy but F1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Chao-Chung: This slide prevents overclaiming. Say the model supports inspection queues, not removal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Emmanuel introduces the demo, then Chao-Chung drives it. Keep it controlled: do not click around randomly. End on Responsible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Emmanuel: Tie this directly to the ethics section of the report and the model card. The system is acceptable with controls, not as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Liggia: This slide shows honesty. Limitations are not excuses; they show what must be improved before a city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Ce: Present future work as practical implementation steps, not vague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Emmanuel: Close by repeating the governance line: CanopyIQ advises; arborists decide.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etailed_isometric_3d_infographic_tech_illustrat.png">    </p:cNvPr>
          <p:cNvPicPr>
            <a:picLocks noChangeAspect="1"/>
          </p:cNvPicPr>
          <p:nvPr/>
        </p:nvPicPr>
        <p:blipFill>
          <a:blip r:embed="rId1"/>
          <a:srcRect l="15669" r="15669" t="0" b="0"/>
          <a:stretch/>
        </p:blipFill>
        <p:spPr>
          <a:xfrm>
            <a:off x="5989320" y="777240"/>
            <a:ext cx="557784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CanopyIQ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1792" y="151790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1A15"/>
                </a:solidFill>
              </a:rPr>
              <a:t>An AI-Assisted Decision Support System for Urban Tree Management and Community Prioritization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27614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5C"/>
                </a:solidFill>
              </a:rPr>
              <a:t>CSCN8040 - Case Studies in AI and ML | Final Team Presentation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31272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Emmanuel Ihejiamaizu | Liggia Elena Taboada Cruz | Chao-Chung Liu | Zhuoran Zhang | Ce Chen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58368" y="3794760"/>
            <a:ext cx="2240280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3867912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decision support, not automation</a:t>
            </a:r>
            <a:endParaRPr lang="en-US" sz="840" dirty="0"/>
          </a:p>
        </p:txBody>
      </p:sp>
      <p:sp>
        <p:nvSpPr>
          <p:cNvPr id="9" name="Shape 6"/>
          <p:cNvSpPr/>
          <p:nvPr/>
        </p:nvSpPr>
        <p:spPr>
          <a:xfrm>
            <a:off x="3063240" y="3794760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4B7F52"/>
          </a:solidFill>
          <a:ln w="12700">
            <a:solidFill>
              <a:srgbClr val="4B7F52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54680" y="386791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live demo included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Emmanuel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The city problem is not “more AI.”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It is how to defend difficult forestry decisions with limited time and budget.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pic>
        <p:nvPicPr>
          <p:cNvPr id="5" name="Image 0" descr="/mnt/data/a_realistic_daytime_urban_streetscape_in_early_spr.png">    </p:cNvPr>
          <p:cNvPicPr>
            <a:picLocks noChangeAspect="1"/>
          </p:cNvPicPr>
          <p:nvPr/>
        </p:nvPicPr>
        <p:blipFill>
          <a:blip r:embed="rId1"/>
          <a:srcRect l="21113" r="21113" t="0" b="0"/>
          <a:stretch/>
        </p:blipFill>
        <p:spPr>
          <a:xfrm>
            <a:off x="6400800" y="1051560"/>
            <a:ext cx="5303520" cy="5166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4173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A15"/>
                </a:solidFill>
              </a:rPr>
              <a:t>A planner has to answer three questions: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20574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4F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78992" y="20665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E1A15"/>
                </a:solidFill>
              </a:rPr>
              <a:t>Which communities need action first?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4F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78992" y="27523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E1A15"/>
                </a:solidFill>
              </a:rPr>
              <a:t>Why this area before another?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34290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6A4F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78992" y="34381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E1A15"/>
                </a:solidFill>
              </a:rPr>
              <a:t>Can we explain the recommendation to council and residents?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713232" y="46177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901184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6A4F"/>
                </a:solidFill>
              </a:rPr>
              <a:t>CanopyIQ turns scattered tree records into an explainable priority list.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Emmanuel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Who is affected?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Canopy decisions shape budgets, work orders, resident trust, and climate adaptation.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6733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4F"/>
                </a:solidFill>
              </a:rPr>
              <a:t>Municipal planners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4984" y="20756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15"/>
                </a:solidFill>
              </a:rPr>
              <a:t>Need defensible rankings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6733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4F"/>
                </a:solidFill>
              </a:rPr>
              <a:t>Arborists &amp; crews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9944" y="20756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15"/>
                </a:solidFill>
              </a:rPr>
              <a:t>Need field-review queues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33649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4F"/>
                </a:solidFill>
              </a:rPr>
              <a:t>Residents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14984" y="37673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15"/>
                </a:solidFill>
              </a:rPr>
              <a:t>Experience shade, service, and risk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310896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33649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4F"/>
                </a:solidFill>
              </a:rPr>
              <a:t>Council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9944" y="37673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15"/>
                </a:solidFill>
              </a:rPr>
              <a:t>Needs a public explanation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5074920"/>
            <a:ext cx="9966960" cy="585216"/>
          </a:xfrm>
          <a:prstGeom prst="roundRect">
            <a:avLst>
              <a:gd name="adj" fmla="val 125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528523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system must be explainable enough for public decision-making, not just accurate in a notebook.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Liggia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Research question and hypothesis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The final report focuses on evidence we can defend.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6A4F"/>
                </a:solidFill>
              </a:rPr>
              <a:t>Research question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E1A15"/>
                </a:solidFill>
              </a:rPr>
              <a:t>How can open municipal tree inventory and environmental data be integrated into a reproducible model to identify high-priority areas for urban forestry intervention?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7F7F2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6A4F"/>
                </a:solidFill>
              </a:rPr>
              <a:t>Hypothesis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0" y="2057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E1A15"/>
                </a:solidFill>
              </a:rPr>
              <a:t>Combining tree asset condition, canopy context, and operational indicators improves resource prioritization and makes forestry decisions easier to explain.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15"/>
                </a:solidFill>
              </a:rPr>
              <a:t>Final research hierarchy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0120" y="443484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5079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Primary: transparent community index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3703320" y="443484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4B7F52"/>
          </a:solidFill>
          <a:ln w="12700">
            <a:solidFill>
              <a:srgbClr val="4B7F5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45079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Validation: baselines + Monte Carlo stability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446520" y="443484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6B705C"/>
          </a:solidFill>
          <a:ln w="12700">
            <a:solidFill>
              <a:srgbClr val="6B705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5079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Secondary: observed removal classifier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189720" y="443484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6B705C"/>
          </a:solidFill>
          <a:ln w="12700">
            <a:solidFill>
              <a:srgbClr val="6B705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45079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History: synthetic/budget/GenAI prototypes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Liggia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Data used in the final system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We combined municipal inventory records, planning boundaries, Census context, and real LST cache data.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152,233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3816" y="181965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raw municipal tree records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08960" y="12344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4173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145,326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36976" y="1819656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harmonized classifier records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60720" y="12344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417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55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888736" y="181965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planning boundary polygons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83880" y="12344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17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51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11896" y="181965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rankable communities</a:t>
            </a:r>
            <a:endParaRPr lang="en-US" sz="850" dirty="0"/>
          </a:p>
        </p:txBody>
      </p:sp>
      <p:pic>
        <p:nvPicPr>
          <p:cNvPr id="17" name="Image 0" descr="/mnt/data/a_bright_clear_daytime_urban_street_scene_photogr.png">    </p:cNvPr>
          <p:cNvPicPr>
            <a:picLocks noChangeAspect="1"/>
          </p:cNvPicPr>
          <p:nvPr/>
        </p:nvPicPr>
        <p:blipFill>
          <a:blip r:embed="rId1"/>
          <a:srcRect l="5152" r="5152" t="0" b="0"/>
          <a:stretch/>
        </p:blipFill>
        <p:spPr>
          <a:xfrm>
            <a:off x="731520" y="2743200"/>
            <a:ext cx="4663440" cy="2926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806440" y="2743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4F"/>
                </a:solidFill>
              </a:rPr>
              <a:t>Source layers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89320" y="32461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</a:rPr>
              <a:t>•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45352" y="32552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E1A15"/>
                </a:solidFill>
              </a:rPr>
              <a:t>Kitchener Tree Inventory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98932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245352" y="36941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E1A15"/>
                </a:solidFill>
              </a:rPr>
              <a:t>Waterloo Street Tree Inventory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989320" y="41239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245352" y="41330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E1A15"/>
                </a:solidFill>
              </a:rPr>
              <a:t>Kitchener planning communities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989320" y="45628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45352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E1A15"/>
                </a:solidFill>
              </a:rPr>
              <a:t>2021 Census population/income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989320" y="500176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</a:rPr>
              <a:t>•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245352" y="50109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E1A15"/>
                </a:solidFill>
              </a:rPr>
              <a:t>Landsat/GEE summer land surface temperature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Chao-Chung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Methodology: from raw records to decision support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CRISP-DM helped keep the work connected to the municipal problem.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828800"/>
            <a:ext cx="1691640" cy="1005840"/>
          </a:xfrm>
          <a:prstGeom prst="chevron">
            <a:avLst/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0574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</a:rPr>
              <a:t>Business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30632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A15"/>
                </a:solidFill>
              </a:rPr>
              <a:t>Define forestry prioritization problem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828800"/>
            <a:ext cx="1691640" cy="1005840"/>
          </a:xfrm>
          <a:prstGeom prst="chevron">
            <a:avLst/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20574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</a:rPr>
              <a:t>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23744" y="30632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A15"/>
                </a:solidFill>
              </a:rPr>
              <a:t>Collect inventory, boundaries, Census, LST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70832" y="1828800"/>
            <a:ext cx="1691640" cy="1005840"/>
          </a:xfrm>
          <a:prstGeom prst="chevron">
            <a:avLst/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20574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</a:rPr>
              <a:t>Prepare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43984" y="30632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A15"/>
                </a:solidFill>
              </a:rPr>
              <a:t>Clean, harmonize, join spatial layers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91072" y="1828800"/>
            <a:ext cx="1691640" cy="1005840"/>
          </a:xfrm>
          <a:prstGeom prst="chevron">
            <a:avLst/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0574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</a:rPr>
              <a:t>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64224" y="30632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A15"/>
                </a:solidFill>
              </a:rPr>
              <a:t>Build index and classifier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11312" y="1828800"/>
            <a:ext cx="1691640" cy="1005840"/>
          </a:xfrm>
          <a:prstGeom prst="chevron">
            <a:avLst/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20574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</a:rPr>
              <a:t>Evaluate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84464" y="30632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A15"/>
                </a:solidFill>
              </a:rPr>
              <a:t>Baselines, stability, transfer tests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131552" y="1828800"/>
            <a:ext cx="1691640" cy="1005840"/>
          </a:xfrm>
          <a:prstGeom prst="chevron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22992" y="20574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04704" y="30632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1A15"/>
                </a:solidFill>
              </a:rPr>
              <a:t>Streamlit decision-support prototype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A15"/>
                </a:solidFill>
              </a:rPr>
              <a:t>Core implementation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822960" y="510235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4B7F52"/>
          </a:solidFill>
          <a:ln w="12700">
            <a:solidFill>
              <a:srgbClr val="4B7F5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17550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Python notebooks for analysis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3657600" y="510235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4B7F52"/>
          </a:solidFill>
          <a:ln w="12700">
            <a:solidFill>
              <a:srgbClr val="4B7F5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517550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GeoPandas/Shapely for geospatial joins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492240" y="510235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4B7F52"/>
          </a:solidFill>
          <a:ln w="12700">
            <a:solidFill>
              <a:srgbClr val="4B7F5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17550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scikit-learn for evaluation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9326880" y="510235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0" y="517550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Streamlit app for live demonstration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Ce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The CanopyIQ Index is intentionally transparent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Each community score is an equal-weighted average of four explainable indicators.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258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6A4F"/>
                </a:solidFill>
              </a:rPr>
              <a:t>Score = 0.25D + 0.25A + 0.25M + 0.25B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22960" y="2487168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A4F"/>
                </a:solidFill>
              </a:rPr>
              <a:t>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34290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15"/>
                </a:solidFill>
              </a:rPr>
              <a:t>Density deficit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38862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05C"/>
                </a:solidFill>
              </a:rPr>
              <a:t>Where living tree density is low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2487168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A4F"/>
                </a:solidFill>
              </a:rPr>
              <a:t>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86200" y="34290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15"/>
                </a:solidFill>
              </a:rPr>
              <a:t>Attrition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86200" y="38862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05C"/>
                </a:solidFill>
              </a:rPr>
              <a:t>Where records show higher removal/loss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2487168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A4F"/>
                </a:solidFill>
              </a:rPr>
              <a:t>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20840" y="34290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15"/>
                </a:solidFill>
              </a:rPr>
              <a:t>Monoculture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20840" y="38862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05C"/>
                </a:solidFill>
              </a:rPr>
              <a:t>Where genus diversity is lower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26880" y="2487168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A4F"/>
                </a:solidFill>
              </a:rPr>
              <a:t>B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555480" y="34290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15"/>
                </a:solidFill>
              </a:rPr>
              <a:t>Backlog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555480" y="38862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05C"/>
                </a:solidFill>
              </a:rPr>
              <a:t>Where inspection recency is weaker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5349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1A15"/>
                </a:solidFill>
              </a:rPr>
              <a:t>Equal weights are a starting point, not a claim of neutrality. The final system should support stakeholder weight review.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Ce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Data integrity check: 55 boundaries became 51 scores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We explain the difference instead of hiding it.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916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6A4F"/>
                </a:solidFill>
              </a:rPr>
              <a:t>55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34440" y="2395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15"/>
                </a:solidFill>
              </a:rPr>
              <a:t>planning-community polygons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6A4F"/>
                </a:solidFill>
              </a:rPr>
              <a:t>52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892040" y="2395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15"/>
                </a:solidFill>
              </a:rPr>
              <a:t>communities with eligible tree records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21040" y="16916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549640" y="2395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currently rankable communities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93008" y="2331720"/>
            <a:ext cx="1005840" cy="0"/>
          </a:xfrm>
          <a:prstGeom prst="line">
            <a:avLst/>
          </a:prstGeom>
          <a:noFill/>
          <a:ln w="16510">
            <a:solidFill>
              <a:srgbClr val="6B705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50608" y="2331720"/>
            <a:ext cx="1005840" cy="0"/>
          </a:xfrm>
          <a:prstGeom prst="line">
            <a:avLst/>
          </a:prstGeom>
          <a:noFill/>
          <a:ln w="16510">
            <a:solidFill>
              <a:srgbClr val="6B705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97280" y="384048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1A15"/>
                </a:solidFill>
              </a:rPr>
              <a:t>Not represented by eligible tree records: Dundee, Pioneer Tower East, Victoria North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31596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</a:rPr>
              <a:t>Excluded from final scoring because backlog was missing: South Plains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521208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A15"/>
                </a:solidFill>
              </a:rPr>
              <a:t>Result: final ranking is honest about missing data and scope.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Chao-Chung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Result 1: community prioritization 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Civic Centre is rank #1 in the current scoreable output.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pic>
        <p:nvPicPr>
          <p:cNvPr id="5" name="Image 0" descr="/mnt/data/canopyiq_assets/figure_1_priority_map.png">    </p:cNvPr>
          <p:cNvPicPr>
            <a:picLocks noChangeAspect="1"/>
          </p:cNvPicPr>
          <p:nvPr/>
        </p:nvPicPr>
        <p:blipFill>
          <a:blip r:embed="rId1"/>
          <a:srcRect l="0" r="0" t="2392" b="2392"/>
          <a:stretch/>
        </p:blipFill>
        <p:spPr>
          <a:xfrm>
            <a:off x="594360" y="1234440"/>
            <a:ext cx="5577840" cy="4754880"/>
          </a:xfrm>
          <a:prstGeom prst="rect">
            <a:avLst/>
          </a:prstGeom>
        </p:spPr>
      </p:pic>
      <p:pic>
        <p:nvPicPr>
          <p:cNvPr id="6" name="Image 1" descr="/mnt/data/canopyiq_assets/figure_2_top10_index.png">    </p:cNvPr>
          <p:cNvPicPr>
            <a:picLocks noChangeAspect="1"/>
          </p:cNvPicPr>
          <p:nvPr/>
        </p:nvPicPr>
        <p:blipFill>
          <a:blip r:embed="rId2"/>
          <a:srcRect l="881" r="881" t="0" b="0"/>
          <a:stretch/>
        </p:blipFill>
        <p:spPr>
          <a:xfrm>
            <a:off x="6355080" y="1325880"/>
            <a:ext cx="5212080" cy="3154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75120" y="48920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766560" y="5074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Civic Centre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803136" y="547725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highest-need community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9326880" y="48920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418320" y="5074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0.765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9454896" y="547725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CanopyIQ score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Zhuoran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Result 2: the score is explainable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The app can show why one community ranks above another.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pic>
        <p:nvPicPr>
          <p:cNvPr id="5" name="Image 0" descr="/mnt/data/canopyiq_assets/figure_3_component_comparison.png">    </p:cNvPr>
          <p:cNvPicPr>
            <a:picLocks noChangeAspect="1"/>
          </p:cNvPicPr>
          <p:nvPr/>
        </p:nvPicPr>
        <p:blipFill>
          <a:blip r:embed="rId1"/>
          <a:srcRect l="6698" r="6698" t="0" b="0"/>
          <a:stretch/>
        </p:blipFill>
        <p:spPr>
          <a:xfrm>
            <a:off x="731520" y="1234440"/>
            <a:ext cx="61264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389888"/>
            <a:ext cx="3977640" cy="3456432"/>
          </a:xfrm>
          <a:prstGeom prst="roundRect">
            <a:avLst>
              <a:gd name="adj" fmla="val 2116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</a:rPr>
              <a:t>Civic Centre ranks high because it combines: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26680" y="23957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82712" y="2404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E1A15"/>
                </a:solidFill>
              </a:rPr>
              <a:t>Long inspection backlog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26680" y="28986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82712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E1A15"/>
                </a:solidFill>
              </a:rPr>
              <a:t>High attrition signal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26680" y="340156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82712" y="34107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E1A15"/>
                </a:solidFill>
              </a:rPr>
              <a:t>High monoculture risk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39044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82712" y="39136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E1A15"/>
                </a:solidFill>
              </a:rPr>
              <a:t>Lower tree density than many communities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80960" y="5230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1A15"/>
                </a:solidFill>
              </a:rPr>
              <a:t>That creates a defensible explanation, not just a number.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Zhuoran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Result 3: the index is stable under weight changes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Monte Carlo testing reduces the risk that rankings are fragile.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pic>
        <p:nvPicPr>
          <p:cNvPr id="5" name="Image 0" descr="/mnt/data/canopyiq_assets/figure_5_stability.png">    </p:cNvPr>
          <p:cNvPicPr>
            <a:picLocks noChangeAspect="1"/>
          </p:cNvPicPr>
          <p:nvPr/>
        </p:nvPicPr>
        <p:blipFill>
          <a:blip r:embed="rId1"/>
          <a:srcRect l="10041" r="10041" t="0" b="0"/>
          <a:stretch/>
        </p:blipFill>
        <p:spPr>
          <a:xfrm>
            <a:off x="731520" y="1143000"/>
            <a:ext cx="571500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3258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1508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1,000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031736" y="191109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Monte Carlo draws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9144000" y="1325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5440" y="1508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0.996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272016" y="191109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median Spearman rho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03720" y="25146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2697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0.990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031736" y="309981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5th percentile rho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144000" y="2514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35440" y="2697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100%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272016" y="309981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median top-15 preserved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086600" y="4041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</a:rPr>
              <a:t>Interpretation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114032" y="44805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E1A15"/>
                </a:solidFill>
              </a:rPr>
              <a:t>Reasonable weight perturbations did not materially change the high-need group. The index is transparent and stable, but weights should still be reviewed by stakeholders.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Zhuoran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Secondary ML experiment: Random Forest improves over baselines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But it remains a planning signal, not an autonomous decision.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pic>
        <p:nvPicPr>
          <p:cNvPr id="5" name="Image 0" descr="/mnt/data/canopyiq_assets/figure_4_model_metrics.png">    </p:cNvPr>
          <p:cNvPicPr>
            <a:picLocks noChangeAspect="1"/>
          </p:cNvPicPr>
          <p:nvPr/>
        </p:nvPicPr>
        <p:blipFill>
          <a:blip r:embed="rId1"/>
          <a:srcRect l="8836" r="8836" t="0" b="0"/>
          <a:stretch/>
        </p:blipFill>
        <p:spPr>
          <a:xfrm>
            <a:off x="685800" y="1234440"/>
            <a:ext cx="57607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2280" y="1389888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15727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0.589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940296" y="197510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Pooled RF F1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686800" y="138988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0" y="157276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0.835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814816" y="197510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Pooled RF ROC-AUC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812280" y="251460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3720" y="26974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0.692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940296" y="30998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Pooled RF PR-AUC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686800" y="251460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0" y="26974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0.558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814816" y="309981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E1A15"/>
                </a:solidFill>
              </a:rPr>
              <a:t>Fraxinus baseline F1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812280" y="4069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6A4F"/>
                </a:solidFill>
              </a:rPr>
              <a:t>The Random Forest beats the simple Fraxinus rule on F1 and ranking quality.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812280" y="4736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E1A15"/>
                </a:solidFill>
              </a:rPr>
              <a:t>This is useful, but not enough to authorize removals without field inspection.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Chao-Chung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What the classifier taught us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It learns useful patterns, but those patterns are not universally portable.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00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</a:rPr>
              <a:t>No-Fraxinus test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3969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E1A15"/>
                </a:solidFill>
              </a:rPr>
              <a:t>ROC-AUC drops to 0.749 and PR-AUC to 0.341.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7007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</a:rPr>
              <a:t>Kitchener -&gt; Waterloo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9160" y="213969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E1A15"/>
                </a:solidFill>
              </a:rPr>
              <a:t>Transfer ROC-AUC = 0.773.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7007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</a:rPr>
              <a:t>Waterloo -&gt; Kitchener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213969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E1A15"/>
                </a:solidFill>
              </a:rPr>
              <a:t>Transfer ROC-AUC = 0.664.</a:t>
            </a:r>
            <a:endParaRPr lang="en-US" sz="1300" dirty="0"/>
          </a:p>
        </p:txBody>
      </p:sp>
      <p:pic>
        <p:nvPicPr>
          <p:cNvPr id="14" name="Image 0" descr="/mnt/data/CanopyIQ_Streamlit_Demo/assets/rf_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3246120"/>
            <a:ext cx="4297680" cy="2148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4F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26480" y="39776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E1A15"/>
                </a:solidFill>
              </a:rPr>
              <a:t>The model is useful for prioritizing review. It is not a general tree-mortality oracle. Species history and city-specific data practices still matter.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Chao-Chung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Live demonstration: CanopyIQ prototype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Two minutes: map, community score, comparison, metrics, responsible AI.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pic>
        <p:nvPicPr>
          <p:cNvPr id="5" name="Image 0" descr="/mnt/data/a_detailed_isometric_3d_infographic_tech_illustrat.png">    </p:cNvPr>
          <p:cNvPicPr>
            <a:picLocks noChangeAspect="1"/>
          </p:cNvPicPr>
          <p:nvPr/>
        </p:nvPicPr>
        <p:blipFill>
          <a:blip r:embed="rId1"/>
          <a:srcRect l="14356" r="14356" t="0" b="0"/>
          <a:stretch/>
        </p:blipFill>
        <p:spPr>
          <a:xfrm>
            <a:off x="6172200" y="1143000"/>
            <a:ext cx="521208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417320"/>
            <a:ext cx="4343400" cy="384048"/>
          </a:xfrm>
          <a:prstGeom prst="roundRect">
            <a:avLst>
              <a:gd name="adj" fmla="val 19048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527048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E1A15"/>
                </a:solidFill>
              </a:rPr>
              <a:t>1. Open Overview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4343400" cy="384048"/>
          </a:xfrm>
          <a:prstGeom prst="roundRect">
            <a:avLst>
              <a:gd name="adj" fmla="val 19048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2121408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E1A15"/>
                </a:solidFill>
              </a:rPr>
              <a:t>2. Community Prioritization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2606040"/>
            <a:ext cx="4343400" cy="384048"/>
          </a:xfrm>
          <a:prstGeom prst="roundRect">
            <a:avLst>
              <a:gd name="adj" fmla="val 19048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715768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3. Select Civic Centre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200400"/>
            <a:ext cx="4343400" cy="384048"/>
          </a:xfrm>
          <a:prstGeom prst="roundRect">
            <a:avLst>
              <a:gd name="adj" fmla="val 19048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3310128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E1A15"/>
                </a:solidFill>
              </a:rPr>
              <a:t>4. Compare with Victoria Park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3794760"/>
            <a:ext cx="4343400" cy="384048"/>
          </a:xfrm>
          <a:prstGeom prst="roundRect">
            <a:avLst>
              <a:gd name="adj" fmla="val 19048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3904488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E1A15"/>
                </a:solidFill>
              </a:rPr>
              <a:t>5. Model Evaluation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4389120"/>
            <a:ext cx="4343400" cy="384048"/>
          </a:xfrm>
          <a:prstGeom prst="roundRect">
            <a:avLst>
              <a:gd name="adj" fmla="val 19048"/>
            </a:avLst>
          </a:prstGeom>
          <a:solidFill>
            <a:srgbClr val="E9F3EA"/>
          </a:solidFill>
          <a:ln w="12700">
            <a:solidFill>
              <a:srgbClr val="C8D7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4498848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E1A15"/>
                </a:solidFill>
              </a:rPr>
              <a:t>6. Responsible AI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0120" y="55961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Demo rule: no fake production claims. This is a working decision-support prototype.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Emmanuel + Chao-Chung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Responsible AI design controls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The strongest governance principle is simple.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6A4F"/>
                </a:solidFill>
              </a:rPr>
              <a:t>CanopyIQ advises. Arborists decide.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157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Accessibility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30449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Table equivalent for map outputs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572000" y="25146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27157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Privacy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73168" y="30449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No income joins to individual tree coordinates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366760" y="25146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7928" y="27157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Security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67928" y="30449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Schema validation, RBAC, audit logs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77240" y="39319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1330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Equity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8408" y="44622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Data coverage flag + Green Equity KPI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572000" y="39319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41330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Human oversight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73168" y="44622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Certified arborist inspection before removals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366760" y="39319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67928" y="41330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Monitoring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67928" y="44622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Drift checks and annual retraining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Emmanuel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Limitations we do not hide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These are practical, specific, and fixable with better data and field feedback.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4800600" cy="896112"/>
          </a:xfrm>
          <a:prstGeom prst="roundRect">
            <a:avLst>
              <a:gd name="adj" fmla="val 8163"/>
            </a:avLst>
          </a:prstGeom>
          <a:solidFill>
            <a:srgbClr val="E9F3E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50876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</a:rPr>
              <a:t>Incomplete inventory coverage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60704" y="182880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Under-documented areas may appear lower need.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4800600" cy="896112"/>
          </a:xfrm>
          <a:prstGeom prst="roundRect">
            <a:avLst>
              <a:gd name="adj" fmla="val 8163"/>
            </a:avLst>
          </a:prstGeom>
          <a:solidFill>
            <a:srgbClr val="F7F7F2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7104" y="150876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</a:rPr>
              <a:t>Missing indicator issue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47104" y="182880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South Plains was excluded because backlog was missing.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22960" y="2606040"/>
            <a:ext cx="4800600" cy="896112"/>
          </a:xfrm>
          <a:prstGeom prst="roundRect">
            <a:avLst>
              <a:gd name="adj" fmla="val 8163"/>
            </a:avLst>
          </a:prstGeom>
          <a:solidFill>
            <a:srgbClr val="E9F3E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7889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</a:rPr>
              <a:t>Value-laden weights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60704" y="310896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Equal weights need stakeholder review.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309360" y="2606040"/>
            <a:ext cx="4800600" cy="896112"/>
          </a:xfrm>
          <a:prstGeom prst="roundRect">
            <a:avLst>
              <a:gd name="adj" fmla="val 8163"/>
            </a:avLst>
          </a:prstGeom>
          <a:solidFill>
            <a:srgbClr val="F7F7F2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7889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</a:rPr>
              <a:t>Species/pest dependency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47104" y="310896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Fraxinus/EAB history affects the classifier.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22960" y="3886200"/>
            <a:ext cx="4800600" cy="896112"/>
          </a:xfrm>
          <a:prstGeom prst="roundRect">
            <a:avLst>
              <a:gd name="adj" fmla="val 8163"/>
            </a:avLst>
          </a:prstGeom>
          <a:solidFill>
            <a:srgbClr val="E9F3E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06908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</a:rPr>
              <a:t>Cross-city mismatch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60704" y="438912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Transfer performance is asymmetric.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309360" y="3886200"/>
            <a:ext cx="4800600" cy="896112"/>
          </a:xfrm>
          <a:prstGeom prst="roundRect">
            <a:avLst>
              <a:gd name="adj" fmla="val 8163"/>
            </a:avLst>
          </a:prstGeom>
          <a:solidFill>
            <a:srgbClr val="F7F7F2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04" y="406908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</a:rPr>
              <a:t>Prototype scope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47104" y="438912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1A15"/>
                </a:solidFill>
              </a:rPr>
              <a:t>No live Cityworks or AWS integration yet.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Liggia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A15"/>
                </a:solidFill>
              </a:rPr>
              <a:t>Future work: from prototype to pilot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05C"/>
                </a:solidFill>
              </a:rPr>
              <a:t>The next version should improve data confidence, feedback, and municipal workflow fit.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E7E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463040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8488" y="16642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64792" y="2148840"/>
            <a:ext cx="0" cy="91440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546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5021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15"/>
                </a:solidFill>
              </a:rPr>
              <a:t>Data coverage confidence flag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1463040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16642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13632" y="2148840"/>
            <a:ext cx="0" cy="91440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31546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5021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15"/>
                </a:solidFill>
              </a:rPr>
              <a:t>Stakeholder weight-setting workshop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15000" y="1463040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16642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62472" y="2148840"/>
            <a:ext cx="0" cy="91440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31546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35021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15"/>
                </a:solidFill>
              </a:rPr>
              <a:t>Arborist feedback loop for retraining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0" y="1463040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16642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11312" y="2148840"/>
            <a:ext cx="0" cy="91440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31546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35021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15"/>
                </a:solidFill>
              </a:rPr>
              <a:t>Fairness review against heat and income context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012680" y="1463040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13848" y="16642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60152" y="2148840"/>
            <a:ext cx="0" cy="91440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0" y="31546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46920" y="35021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15"/>
                </a:solidFill>
              </a:rPr>
              <a:t>Pilot with forestry staff and work-order integration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51560" y="5349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Goal: keep the system explainable while making it more useful in real forestry operations.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Ce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bright_clear_daytime_urban_street_scene_photogr.png">    </p:cNvPr>
          <p:cNvPicPr>
            <a:picLocks noChangeAspect="1"/>
          </p:cNvPicPr>
          <p:nvPr/>
        </p:nvPicPr>
        <p:blipFill>
          <a:blip r:embed="rId1"/>
          <a:srcRect l="22341" r="22341" t="0" b="0"/>
          <a:stretch/>
        </p:blipFill>
        <p:spPr>
          <a:xfrm>
            <a:off x="6446520" y="530352"/>
            <a:ext cx="5257800" cy="5349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takeaway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31520" y="187452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CanopyIQ makes urban forestry prioritization more explainable, but it must remain decision support.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77240" y="3931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2F7F2"/>
                </a:solidFill>
              </a:rPr>
              <a:t>Transparent index. Verified baselines. Working demo. Human accountability.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" y="51663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23951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questions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411480" y="65471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CanopyIQ | Emmanuel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631168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05C"/>
                </a:solidFill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Conestoga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CanopyIQ: An AI-Assisted Decision Support System for Urban Tree Management and Community Prioritization</dc:title>
  <dc:subject>CSCN8040 Final Presentation</dc:subject>
  <dc:creator>CanopyIQ Team</dc:creator>
  <cp:lastModifiedBy>CanopyIQ Team</cp:lastModifiedBy>
  <cp:revision>1</cp:revision>
  <dcterms:created xsi:type="dcterms:W3CDTF">2026-08-16T02:09:00Z</dcterms:created>
  <dcterms:modified xsi:type="dcterms:W3CDTF">2026-08-16T02:09:00Z</dcterms:modified>
</cp:coreProperties>
</file>