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Montserrat" pitchFamily="2" charset="0"/>
      <p:regular r:id="rId14"/>
      <p:bold r:id="rId15"/>
      <p:italic r:id="rId16"/>
      <p:boldItalic r:id="rId17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9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43F68C-7208-4F77-BFD3-909D7E81E82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925119" y="130127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Enhancing Urban Forestry Planning with an AI-Powered Tree Canopy Decision Support System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3925119" y="3621960"/>
            <a:ext cx="3469594" cy="109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Emmanuel </a:t>
            </a:r>
            <a:r>
              <a:rPr lang="en-US" sz="1400" dirty="0" err="1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Ihejiamaizu</a:t>
            </a:r>
            <a:endParaRPr lang="en-US" sz="1400" dirty="0">
              <a:solidFill>
                <a:srgbClr val="E5DCE6"/>
              </a:solidFill>
              <a:latin typeface="Times New Roman" panose="02020603050405020304" pitchFamily="18" charset="0"/>
              <a:ea typeface="Montserrat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err="1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Liggia</a:t>
            </a: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Elena Taboada Cruz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Chao-Chung Liu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err="1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Zhuoran</a:t>
            </a: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Zhang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96119" y="466427"/>
            <a:ext cx="4722763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The Problem: Urban Forestry Under Pressure</a:t>
            </a:r>
            <a:endParaRPr lang="en-US" sz="2350" dirty="0"/>
          </a:p>
        </p:txBody>
      </p:sp>
      <p:sp>
        <p:nvSpPr>
          <p:cNvPr id="6" name="Text 2"/>
          <p:cNvSpPr/>
          <p:nvPr/>
        </p:nvSpPr>
        <p:spPr>
          <a:xfrm>
            <a:off x="496119" y="1373088"/>
            <a:ext cx="4722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Kitchener and Waterloo are committed to improving air quality and reducing urban heat — but face significant barriers to effective action.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96119" y="1844873"/>
            <a:ext cx="4722763" cy="875779"/>
          </a:xfrm>
          <a:prstGeom prst="roundRect">
            <a:avLst>
              <a:gd name="adj" fmla="val 7831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81831" y="1844873"/>
            <a:ext cx="57150" cy="875779"/>
          </a:xfrm>
          <a:prstGeom prst="roundRect">
            <a:avLst>
              <a:gd name="adj" fmla="val 88558"/>
            </a:avLst>
          </a:prstGeom>
          <a:solidFill>
            <a:srgbClr val="EEAEF6"/>
          </a:solidFill>
          <a:ln/>
        </p:spPr>
      </p:sp>
      <p:sp>
        <p:nvSpPr>
          <p:cNvPr id="9" name="Text 5"/>
          <p:cNvSpPr/>
          <p:nvPr/>
        </p:nvSpPr>
        <p:spPr>
          <a:xfrm>
            <a:off x="673745" y="1979637"/>
            <a:ext cx="1681386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Limited Budget &amp; Staff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73745" y="2229296"/>
            <a:ext cx="441037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Resources are stretched thin, making it difficult to respond proactively to tree maintenance needs.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96119" y="2823046"/>
            <a:ext cx="4722763" cy="875779"/>
          </a:xfrm>
          <a:prstGeom prst="roundRect">
            <a:avLst>
              <a:gd name="adj" fmla="val 7831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1831" y="2823046"/>
            <a:ext cx="57150" cy="875779"/>
          </a:xfrm>
          <a:prstGeom prst="roundRect">
            <a:avLst>
              <a:gd name="adj" fmla="val 88558"/>
            </a:avLst>
          </a:prstGeom>
          <a:solidFill>
            <a:srgbClr val="EEAEF6"/>
          </a:solidFill>
          <a:ln/>
        </p:spPr>
      </p:sp>
      <p:sp>
        <p:nvSpPr>
          <p:cNvPr id="13" name="Text 9"/>
          <p:cNvSpPr/>
          <p:nvPr/>
        </p:nvSpPr>
        <p:spPr>
          <a:xfrm>
            <a:off x="673745" y="295781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Unclear Priorities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73745" y="3207469"/>
            <a:ext cx="441037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 systematic approach, it is hard to decide where to plant or fix trees first.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96119" y="3801219"/>
            <a:ext cx="4722763" cy="875779"/>
          </a:xfrm>
          <a:prstGeom prst="roundRect">
            <a:avLst>
              <a:gd name="adj" fmla="val 7831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1831" y="3801219"/>
            <a:ext cx="57150" cy="875779"/>
          </a:xfrm>
          <a:prstGeom prst="roundRect">
            <a:avLst>
              <a:gd name="adj" fmla="val 88558"/>
            </a:avLst>
          </a:prstGeom>
          <a:solidFill>
            <a:srgbClr val="EEAEF6"/>
          </a:solidFill>
          <a:ln/>
        </p:spPr>
      </p:sp>
      <p:sp>
        <p:nvSpPr>
          <p:cNvPr id="17" name="Text 13"/>
          <p:cNvSpPr/>
          <p:nvPr/>
        </p:nvSpPr>
        <p:spPr>
          <a:xfrm>
            <a:off x="673745" y="3935983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Fragmented Data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73745" y="4185642"/>
            <a:ext cx="441037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Tree inventory, health records, and neighborhood data exist in separate silos — never connected.</a:t>
            </a:r>
            <a:endParaRPr lang="en-US" sz="90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6B4F9EA-0730-4F6C-B872-EC5BC2298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642" y="962727"/>
            <a:ext cx="3471486" cy="30791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00124"/>
            <a:ext cx="8182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The AI Decision Support System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770812" y="3960225"/>
            <a:ext cx="5602373" cy="550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AI DSS is a unified system that connects all fragmented data sources into a single intelligent platform — enabling city planners to act with confidence.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4188" y="1608544"/>
            <a:ext cx="1945928" cy="1463129"/>
          </a:xfrm>
          <a:prstGeom prst="roundRect">
            <a:avLst>
              <a:gd name="adj" fmla="val 3942"/>
            </a:avLst>
          </a:prstGeom>
          <a:solidFill>
            <a:srgbClr val="282D5E"/>
          </a:solidFill>
          <a:ln/>
        </p:spPr>
      </p:sp>
      <p:sp>
        <p:nvSpPr>
          <p:cNvPr id="8" name="Shape 5"/>
          <p:cNvSpPr/>
          <p:nvPr/>
        </p:nvSpPr>
        <p:spPr>
          <a:xfrm>
            <a:off x="551482" y="1745838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EEAE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741" y="1859096"/>
            <a:ext cx="185365" cy="1853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1482" y="2290772"/>
            <a:ext cx="1671340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Find Low-Canopy Areas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493094" y="1608544"/>
            <a:ext cx="1945928" cy="1463129"/>
          </a:xfrm>
          <a:prstGeom prst="roundRect">
            <a:avLst>
              <a:gd name="adj" fmla="val 3942"/>
            </a:avLst>
          </a:prstGeom>
          <a:solidFill>
            <a:srgbClr val="282D5E"/>
          </a:solidFill>
          <a:ln/>
        </p:spPr>
      </p:sp>
      <p:sp>
        <p:nvSpPr>
          <p:cNvPr id="12" name="Shape 8"/>
          <p:cNvSpPr/>
          <p:nvPr/>
        </p:nvSpPr>
        <p:spPr>
          <a:xfrm>
            <a:off x="2630388" y="1745838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EEAE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3646" y="1859096"/>
            <a:ext cx="185365" cy="1853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30388" y="2290772"/>
            <a:ext cx="167134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Check Tree Health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572000" y="1608544"/>
            <a:ext cx="1945928" cy="1463129"/>
          </a:xfrm>
          <a:prstGeom prst="roundRect">
            <a:avLst>
              <a:gd name="adj" fmla="val 3942"/>
            </a:avLst>
          </a:prstGeom>
          <a:solidFill>
            <a:srgbClr val="282D5E"/>
          </a:solidFill>
          <a:ln/>
        </p:spPr>
      </p:sp>
      <p:sp>
        <p:nvSpPr>
          <p:cNvPr id="16" name="Shape 11"/>
          <p:cNvSpPr/>
          <p:nvPr/>
        </p:nvSpPr>
        <p:spPr>
          <a:xfrm>
            <a:off x="4709294" y="1745838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EEAEF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2552" y="1859096"/>
            <a:ext cx="185365" cy="1853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09294" y="2290772"/>
            <a:ext cx="1671340" cy="643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Rank Neighborhoods by Need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650905" y="1608544"/>
            <a:ext cx="1946002" cy="1463129"/>
          </a:xfrm>
          <a:prstGeom prst="roundRect">
            <a:avLst>
              <a:gd name="adj" fmla="val 3942"/>
            </a:avLst>
          </a:prstGeom>
          <a:solidFill>
            <a:srgbClr val="282D5E"/>
          </a:solidFill>
          <a:ln/>
        </p:spPr>
      </p:sp>
      <p:sp>
        <p:nvSpPr>
          <p:cNvPr id="20" name="Shape 14"/>
          <p:cNvSpPr/>
          <p:nvPr/>
        </p:nvSpPr>
        <p:spPr>
          <a:xfrm>
            <a:off x="6788199" y="1745838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EEAEF6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01458" y="1859096"/>
            <a:ext cx="185365" cy="1853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88199" y="2290772"/>
            <a:ext cx="16714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Visualize on a Map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6">
            <a:extLst>
              <a:ext uri="{FF2B5EF4-FFF2-40B4-BE49-F238E27FC236}">
                <a16:creationId xmlns:a16="http://schemas.microsoft.com/office/drawing/2014/main" id="{B32DD6EA-4DDA-4038-8621-F2BFDBD41FD4}"/>
              </a:ext>
            </a:extLst>
          </p:cNvPr>
          <p:cNvSpPr/>
          <p:nvPr/>
        </p:nvSpPr>
        <p:spPr>
          <a:xfrm>
            <a:off x="6013103" y="3003352"/>
            <a:ext cx="2639467" cy="1394296"/>
          </a:xfrm>
          <a:prstGeom prst="roundRect">
            <a:avLst>
              <a:gd name="adj" fmla="val 4057"/>
            </a:avLst>
          </a:prstGeom>
          <a:solidFill>
            <a:srgbClr val="4B3F02"/>
          </a:solidFill>
          <a:ln/>
        </p:spPr>
      </p:sp>
      <p:sp>
        <p:nvSpPr>
          <p:cNvPr id="2" name="Text 0"/>
          <p:cNvSpPr/>
          <p:nvPr/>
        </p:nvSpPr>
        <p:spPr>
          <a:xfrm>
            <a:off x="496119" y="496863"/>
            <a:ext cx="6143220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Urban Heat Island Effect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013103" y="1237580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3103" y="1575867"/>
            <a:ext cx="2639467" cy="105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trees = Lower temperature. The data clearly shows that neighborhoods with dense canopy cover experience significantly cooler surface temperatures during summer months.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13103" y="2754139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Strategic Decision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044612" y="3163959"/>
            <a:ext cx="2576448" cy="105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High Priority Zones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areas with less than </a:t>
            </a:r>
            <a:r>
              <a:rPr lang="en-US" sz="1050" dirty="0">
                <a:solidFill>
                  <a:srgbClr val="243799"/>
                </a:solidFill>
                <a:highlight>
                  <a:srgbClr val="FF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 tree canopy</a:t>
            </a:r>
            <a:r>
              <a:rPr lang="en-US" sz="1050" dirty="0">
                <a:solidFill>
                  <a:srgbClr val="FFFFFF"/>
                </a:solidFill>
                <a:highlight>
                  <a:srgbClr val="FF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must be targeted first for maximum heat reduction impact.</a:t>
            </a:r>
            <a:endParaRPr lang="en-US" sz="105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BC1FACF-0815-4B14-80BA-C03970BDF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0" y="1164508"/>
            <a:ext cx="5472000" cy="34200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FEA94195-095C-4E5F-87B3-BD75553A7AFB}"/>
              </a:ext>
            </a:extLst>
          </p:cNvPr>
          <p:cNvSpPr txBox="1"/>
          <p:nvPr/>
        </p:nvSpPr>
        <p:spPr>
          <a:xfrm>
            <a:off x="145774" y="124875"/>
            <a:ext cx="2001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Data Visualization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6">
            <a:extLst>
              <a:ext uri="{FF2B5EF4-FFF2-40B4-BE49-F238E27FC236}">
                <a16:creationId xmlns:a16="http://schemas.microsoft.com/office/drawing/2014/main" id="{1B6C3067-3CEA-47C2-885F-809E05B78C43}"/>
              </a:ext>
            </a:extLst>
          </p:cNvPr>
          <p:cNvSpPr/>
          <p:nvPr/>
        </p:nvSpPr>
        <p:spPr>
          <a:xfrm>
            <a:off x="6013103" y="3263578"/>
            <a:ext cx="2639467" cy="1134070"/>
          </a:xfrm>
          <a:prstGeom prst="roundRect">
            <a:avLst>
              <a:gd name="adj" fmla="val 4057"/>
            </a:avLst>
          </a:prstGeom>
          <a:solidFill>
            <a:srgbClr val="4B3F02"/>
          </a:solidFill>
          <a:ln/>
        </p:spPr>
      </p:sp>
      <p:sp>
        <p:nvSpPr>
          <p:cNvPr id="2" name="Text 0"/>
          <p:cNvSpPr/>
          <p:nvPr/>
        </p:nvSpPr>
        <p:spPr>
          <a:xfrm>
            <a:off x="496119" y="541139"/>
            <a:ext cx="61096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Social Equity &amp; Tree Distribution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024339" y="133848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The Disparity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1701701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Low-income neighborhoods consistently have fewer trees — meaning residents face higher heat exposure and poorer air quality through no fault of their own.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2977530"/>
            <a:ext cx="27461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The AI-Powered Response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83974" y="3310942"/>
            <a:ext cx="2404044" cy="105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DSS uses AI to ensure </a:t>
            </a:r>
            <a:r>
              <a:rPr lang="en-US" sz="1100" b="1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Canopy Equity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directing planting and maintenance resources to the communities that need them most, not just the easiest to reach.</a:t>
            </a:r>
            <a:endParaRPr lang="en-US" sz="11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73A2D3B-98A3-4979-AE94-C5D185C842E0}"/>
              </a:ext>
            </a:extLst>
          </p:cNvPr>
          <p:cNvSpPr txBox="1"/>
          <p:nvPr/>
        </p:nvSpPr>
        <p:spPr>
          <a:xfrm>
            <a:off x="145774" y="124875"/>
            <a:ext cx="2001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Data Visualization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8AA3D69-3BD1-432A-AA06-9DDDC4DEC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76" y="1164508"/>
            <a:ext cx="5596364" cy="34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1861"/>
            <a:ext cx="7925767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Actionable Trends: Critical Tree Maintenance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013103" y="1342579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Key Observation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3103" y="1680865"/>
            <a:ext cx="263946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Neighborhood 0008.01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 the highest concentration of high-risk trees requiring immediate attention — a clear signal for resource deployment.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13103" y="2649066"/>
            <a:ext cx="2318593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DSS Recommendation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13103" y="3003352"/>
            <a:ext cx="2639467" cy="1394296"/>
          </a:xfrm>
          <a:prstGeom prst="roundRect">
            <a:avLst>
              <a:gd name="adj" fmla="val 4057"/>
            </a:avLst>
          </a:prstGeom>
          <a:solidFill>
            <a:srgbClr val="4B3F0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718" y="3206204"/>
            <a:ext cx="168325" cy="1346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0657" y="3164904"/>
            <a:ext cx="2067297" cy="105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Immediate Action: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Redirect maintenance teams to the </a:t>
            </a:r>
            <a:r>
              <a:rPr lang="en-US" sz="1050" dirty="0">
                <a:solidFill>
                  <a:srgbClr val="243799"/>
                </a:solidFill>
                <a:highlight>
                  <a:srgbClr val="FF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5 highest-risk neighborhoods</a:t>
            </a:r>
            <a:r>
              <a:rPr lang="en-US" sz="1050" dirty="0">
                <a:solidFill>
                  <a:srgbClr val="FFFFFF"/>
                </a:solidFill>
                <a:highlight>
                  <a:srgbClr val="FF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prevent tree failures and protect public safety.</a:t>
            </a:r>
            <a:endParaRPr lang="en-US" sz="105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D3F8EFD-4220-4281-95E8-26FBE44C9B7F}"/>
              </a:ext>
            </a:extLst>
          </p:cNvPr>
          <p:cNvSpPr txBox="1"/>
          <p:nvPr/>
        </p:nvSpPr>
        <p:spPr>
          <a:xfrm>
            <a:off x="145774" y="124875"/>
            <a:ext cx="2001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Data Visualization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9CEC30C8-EFA3-4D61-9CF4-A4F7AFFCB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77" y="1268899"/>
            <a:ext cx="5540063" cy="30778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6234"/>
            <a:ext cx="3791843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AI Model Performance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5990555" y="1218754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Model Fit Analysis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90555" y="1509415"/>
            <a:ext cx="266201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regression line fits the data almost perfectly, confirming a strong linear relationship between critical tree counts and required maintenance budget.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90555" y="2324993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Residual Analysis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90555" y="2615654"/>
            <a:ext cx="266201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residual errors across all data points indicate the model is highly reliable — suitable for real-world business planning and budget forecasting.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90555" y="3444032"/>
            <a:ext cx="2662014" cy="997967"/>
          </a:xfrm>
          <a:prstGeom prst="roundRect">
            <a:avLst>
              <a:gd name="adj" fmla="val 5071"/>
            </a:avLst>
          </a:prstGeom>
          <a:solidFill>
            <a:srgbClr val="183A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032" y="3617714"/>
            <a:ext cx="150614" cy="1204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82122" y="3576489"/>
            <a:ext cx="21499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Level: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R² &gt; 0.99 means the model explains over 99% of budget variance — a powerful tool for city financial planning.</a:t>
            </a:r>
            <a:endParaRPr lang="en-US" sz="9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8975B7E-3AB1-4B92-946C-77C0DF1E96A5}"/>
              </a:ext>
            </a:extLst>
          </p:cNvPr>
          <p:cNvSpPr txBox="1"/>
          <p:nvPr/>
        </p:nvSpPr>
        <p:spPr>
          <a:xfrm>
            <a:off x="159026" y="148307"/>
            <a:ext cx="4572000" cy="367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altLang="zh-TW" sz="18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Building the AI Model: Linear Regression</a:t>
            </a:r>
            <a:endParaRPr lang="en-US" altLang="zh-TW" sz="18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0661102D-1463-47C0-9327-AC6DD37C4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35" y="1081469"/>
            <a:ext cx="3342305" cy="229783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F911925-D33C-422B-A2DF-71A37863C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8522" y="3309851"/>
            <a:ext cx="3391650" cy="1695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426</Words>
  <Application>Microsoft Office PowerPoint</Application>
  <PresentationFormat>如螢幕大小 (16:9)</PresentationFormat>
  <Paragraphs>51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Montserrat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lastModifiedBy>兆中 劉</cp:lastModifiedBy>
  <cp:revision>6</cp:revision>
  <dcterms:created xsi:type="dcterms:W3CDTF">2026-05-27T08:16:04Z</dcterms:created>
  <dcterms:modified xsi:type="dcterms:W3CDTF">2026-05-27T08:43:06Z</dcterms:modified>
</cp:coreProperties>
</file>